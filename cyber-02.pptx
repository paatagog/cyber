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1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7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0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0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6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1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92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59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35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7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0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88892-F611-4696-A2BC-73E8DD316439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B8066-6060-45E8-A932-D8E74EF87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6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48697"/>
          </a:xfrm>
        </p:spPr>
        <p:txBody>
          <a:bodyPr/>
          <a:lstStyle/>
          <a:p>
            <a:r>
              <a:rPr lang="en-US" b="1" dirty="0" smtClean="0"/>
              <a:t>Cybersecurity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55740"/>
            <a:ext cx="9144000" cy="640353"/>
          </a:xfrm>
        </p:spPr>
        <p:txBody>
          <a:bodyPr/>
          <a:lstStyle/>
          <a:p>
            <a:r>
              <a:rPr lang="en-US" dirty="0" smtClean="0"/>
              <a:t>Graduate Program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679" y="4031543"/>
            <a:ext cx="2816522" cy="1657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26" y="3908789"/>
            <a:ext cx="3997841" cy="19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7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4279" y="712381"/>
            <a:ext cx="107495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 smtClean="0"/>
              <a:t>Program Structure</a:t>
            </a:r>
            <a:endParaRPr lang="en-US" sz="50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878604"/>
              </p:ext>
            </p:extLst>
          </p:nvPr>
        </p:nvGraphicFramePr>
        <p:xfrm>
          <a:off x="914400" y="2381695"/>
          <a:ext cx="10217888" cy="282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785">
                  <a:extLst>
                    <a:ext uri="{9D8B030D-6E8A-4147-A177-3AD203B41FA5}">
                      <a16:colId xmlns:a16="http://schemas.microsoft.com/office/drawing/2014/main" val="2495181667"/>
                    </a:ext>
                  </a:extLst>
                </a:gridCol>
                <a:gridCol w="8270103">
                  <a:extLst>
                    <a:ext uri="{9D8B030D-6E8A-4147-A177-3AD203B41FA5}">
                      <a16:colId xmlns:a16="http://schemas.microsoft.com/office/drawing/2014/main" val="2193307138"/>
                    </a:ext>
                  </a:extLst>
                </a:gridCol>
              </a:tblGrid>
              <a:tr h="565652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Semester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University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932580"/>
                  </a:ext>
                </a:extLst>
              </a:tr>
              <a:tr h="565652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NKU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92411"/>
                  </a:ext>
                </a:extLst>
              </a:tr>
              <a:tr h="565652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NKU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321970"/>
                  </a:ext>
                </a:extLst>
              </a:tr>
              <a:tr h="565652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SANGU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57941"/>
                  </a:ext>
                </a:extLst>
              </a:tr>
              <a:tr h="565652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SANGU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50643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03355"/>
            <a:ext cx="102178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2 years</a:t>
            </a:r>
          </a:p>
          <a:p>
            <a:r>
              <a:rPr lang="en-US" sz="2500" dirty="0" smtClean="0"/>
              <a:t>120 ECTS credits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124386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438594"/>
              </p:ext>
            </p:extLst>
          </p:nvPr>
        </p:nvGraphicFramePr>
        <p:xfrm>
          <a:off x="255181" y="686604"/>
          <a:ext cx="11568223" cy="59329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028">
                  <a:extLst>
                    <a:ext uri="{9D8B030D-6E8A-4147-A177-3AD203B41FA5}">
                      <a16:colId xmlns:a16="http://schemas.microsoft.com/office/drawing/2014/main" val="3085678530"/>
                    </a:ext>
                  </a:extLst>
                </a:gridCol>
                <a:gridCol w="3942540">
                  <a:extLst>
                    <a:ext uri="{9D8B030D-6E8A-4147-A177-3AD203B41FA5}">
                      <a16:colId xmlns:a16="http://schemas.microsoft.com/office/drawing/2014/main" val="46044964"/>
                    </a:ext>
                  </a:extLst>
                </a:gridCol>
                <a:gridCol w="3476847">
                  <a:extLst>
                    <a:ext uri="{9D8B030D-6E8A-4147-A177-3AD203B41FA5}">
                      <a16:colId xmlns:a16="http://schemas.microsoft.com/office/drawing/2014/main" val="3094590218"/>
                    </a:ext>
                  </a:extLst>
                </a:gridCol>
                <a:gridCol w="606056">
                  <a:extLst>
                    <a:ext uri="{9D8B030D-6E8A-4147-A177-3AD203B41FA5}">
                      <a16:colId xmlns:a16="http://schemas.microsoft.com/office/drawing/2014/main" val="2785831942"/>
                    </a:ext>
                  </a:extLst>
                </a:gridCol>
                <a:gridCol w="2466752">
                  <a:extLst>
                    <a:ext uri="{9D8B030D-6E8A-4147-A177-3AD203B41FA5}">
                      <a16:colId xmlns:a16="http://schemas.microsoft.com/office/drawing/2014/main" val="435509062"/>
                    </a:ext>
                  </a:extLst>
                </a:gridCol>
              </a:tblGrid>
              <a:tr h="340401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Semester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Prerequisite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Course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 smtClean="0">
                          <a:effectLst/>
                        </a:rPr>
                        <a:t>ESTS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Lecturer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707711797"/>
                  </a:ext>
                </a:extLst>
              </a:tr>
              <a:tr h="352580">
                <a:tc rowSpan="5"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1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Cybersecurity Fundamentals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James Walden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3616768881"/>
                  </a:ext>
                </a:extLst>
              </a:tr>
              <a:tr h="352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Network Security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Awad Mussa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3547720174"/>
                  </a:ext>
                </a:extLst>
              </a:tr>
              <a:tr h="352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Cloud Computing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Wei Hao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1939089034"/>
                  </a:ext>
                </a:extLst>
              </a:tr>
              <a:tr h="352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Cloud Computing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Cloud Security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Wei Hao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3869621524"/>
                  </a:ext>
                </a:extLst>
              </a:tr>
              <a:tr h="3404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Elective Course 1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2006500183"/>
                  </a:ext>
                </a:extLst>
              </a:tr>
              <a:tr h="352580">
                <a:tc rowSpan="5"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2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Data Privacy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Ankur Chattopadhyay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552707114"/>
                  </a:ext>
                </a:extLst>
              </a:tr>
              <a:tr h="352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Cybersecurity Fundamentals or Network security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Security Architecture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Rasib Khan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1348590088"/>
                  </a:ext>
                </a:extLst>
              </a:tr>
              <a:tr h="352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Network Security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Incident Response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Awad Mussa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2733288145"/>
                  </a:ext>
                </a:extLst>
              </a:tr>
              <a:tr h="352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Network Security (Co-requisite)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Ethical Hacking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Yi Hu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1869410599"/>
                  </a:ext>
                </a:extLst>
              </a:tr>
              <a:tr h="3404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Elective Course 2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4291167683"/>
                  </a:ext>
                </a:extLst>
              </a:tr>
              <a:tr h="352580">
                <a:tc rowSpan="5"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3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Machine Learning for Cyber Security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Paata Gogishvili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804650600"/>
                  </a:ext>
                </a:extLst>
              </a:tr>
              <a:tr h="352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Cyber Law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Khatuna Burkadze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3082678032"/>
                  </a:ext>
                </a:extLst>
              </a:tr>
              <a:tr h="352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Data Science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 dirty="0">
                          <a:effectLst/>
                        </a:rPr>
                        <a:t>6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Natia Doliashvili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561615757"/>
                  </a:ext>
                </a:extLst>
              </a:tr>
              <a:tr h="3525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Intrusion Detection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500" dirty="0">
                          <a:effectLst/>
                        </a:rPr>
                        <a:t>6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 err="1">
                          <a:effectLst/>
                        </a:rPr>
                        <a:t>Nini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Simonishvili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3028478516"/>
                  </a:ext>
                </a:extLst>
              </a:tr>
              <a:tr h="3404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Elective Course 3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6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3088236622"/>
                  </a:ext>
                </a:extLst>
              </a:tr>
              <a:tr h="340401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4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All mandatory courses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600" b="1" dirty="0">
                          <a:effectLst/>
                        </a:rPr>
                        <a:t>Capstone Project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30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Anyone from Program Staff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748" marR="59748" marT="0" marB="0"/>
                </a:tc>
                <a:extLst>
                  <a:ext uri="{0D108BD9-81ED-4DB2-BD59-A6C34878D82A}">
                    <a16:rowId xmlns:a16="http://schemas.microsoft.com/office/drawing/2014/main" val="34864226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4534" y="148855"/>
            <a:ext cx="1074951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/>
              <a:t>Curriculum</a:t>
            </a:r>
          </a:p>
        </p:txBody>
      </p:sp>
    </p:spTree>
    <p:extLst>
      <p:ext uri="{BB962C8B-B14F-4D97-AF65-F5344CB8AC3E}">
        <p14:creationId xmlns:p14="http://schemas.microsoft.com/office/powerpoint/2010/main" val="255697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4279" y="255181"/>
            <a:ext cx="107495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/>
              <a:t>Elective Courses</a:t>
            </a:r>
            <a:endParaRPr lang="en-US" sz="30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931814"/>
              </p:ext>
            </p:extLst>
          </p:nvPr>
        </p:nvGraphicFramePr>
        <p:xfrm>
          <a:off x="744278" y="1711843"/>
          <a:ext cx="10568763" cy="2169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0913">
                  <a:extLst>
                    <a:ext uri="{9D8B030D-6E8A-4147-A177-3AD203B41FA5}">
                      <a16:colId xmlns:a16="http://schemas.microsoft.com/office/drawing/2014/main" val="2634839747"/>
                    </a:ext>
                  </a:extLst>
                </a:gridCol>
                <a:gridCol w="4312679">
                  <a:extLst>
                    <a:ext uri="{9D8B030D-6E8A-4147-A177-3AD203B41FA5}">
                      <a16:colId xmlns:a16="http://schemas.microsoft.com/office/drawing/2014/main" val="86593317"/>
                    </a:ext>
                  </a:extLst>
                </a:gridCol>
                <a:gridCol w="1033390">
                  <a:extLst>
                    <a:ext uri="{9D8B030D-6E8A-4147-A177-3AD203B41FA5}">
                      <a16:colId xmlns:a16="http://schemas.microsoft.com/office/drawing/2014/main" val="1097909890"/>
                    </a:ext>
                  </a:extLst>
                </a:gridCol>
                <a:gridCol w="2181781">
                  <a:extLst>
                    <a:ext uri="{9D8B030D-6E8A-4147-A177-3AD203B41FA5}">
                      <a16:colId xmlns:a16="http://schemas.microsoft.com/office/drawing/2014/main" val="2097069180"/>
                    </a:ext>
                  </a:extLst>
                </a:gridCol>
              </a:tblGrid>
              <a:tr h="306903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Prerequisite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Course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ESTS Credit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Lecturer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40729"/>
                  </a:ext>
                </a:extLst>
              </a:tr>
              <a:tr h="313809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700" b="1" dirty="0">
                          <a:effectLst/>
                        </a:rPr>
                        <a:t>Risk Management</a:t>
                      </a:r>
                      <a:endParaRPr lang="en-US" sz="1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Ankur Chattopadhyay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416446"/>
                  </a:ext>
                </a:extLst>
              </a:tr>
              <a:tr h="313809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700" b="1" dirty="0">
                          <a:effectLst/>
                        </a:rPr>
                        <a:t>Web Security</a:t>
                      </a:r>
                      <a:endParaRPr lang="en-US" sz="1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Rasib Khan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0145505"/>
                  </a:ext>
                </a:extLst>
              </a:tr>
              <a:tr h="313809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700" b="1" dirty="0">
                          <a:effectLst/>
                        </a:rPr>
                        <a:t>Operating Systems Security</a:t>
                      </a:r>
                      <a:endParaRPr lang="en-US" sz="1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Rasib Khan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4295451"/>
                  </a:ext>
                </a:extLst>
              </a:tr>
              <a:tr h="613807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Cybersecurity Fundamentals or Network Security (Co-requisite)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700" b="1" dirty="0">
                          <a:effectLst/>
                        </a:rPr>
                        <a:t>Computer Forensics</a:t>
                      </a:r>
                      <a:endParaRPr lang="en-US" sz="1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Yi Hu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924358"/>
                  </a:ext>
                </a:extLst>
              </a:tr>
              <a:tr h="306903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 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700" b="1" dirty="0">
                          <a:effectLst/>
                        </a:rPr>
                        <a:t>Advanced Graduate Topics in Cybersecurity</a:t>
                      </a:r>
                      <a:endParaRPr lang="en-US" sz="1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6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Anyone from NKU Staff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25044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44278" y="1371600"/>
            <a:ext cx="310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Elective 1, Elective 2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44278" y="4291105"/>
            <a:ext cx="310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Elective 3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303913"/>
              </p:ext>
            </p:extLst>
          </p:nvPr>
        </p:nvGraphicFramePr>
        <p:xfrm>
          <a:off x="744277" y="4660436"/>
          <a:ext cx="10568763" cy="17722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19649">
                  <a:extLst>
                    <a:ext uri="{9D8B030D-6E8A-4147-A177-3AD203B41FA5}">
                      <a16:colId xmlns:a16="http://schemas.microsoft.com/office/drawing/2014/main" val="4139610638"/>
                    </a:ext>
                  </a:extLst>
                </a:gridCol>
                <a:gridCol w="4333943">
                  <a:extLst>
                    <a:ext uri="{9D8B030D-6E8A-4147-A177-3AD203B41FA5}">
                      <a16:colId xmlns:a16="http://schemas.microsoft.com/office/drawing/2014/main" val="868239377"/>
                    </a:ext>
                  </a:extLst>
                </a:gridCol>
                <a:gridCol w="1033390">
                  <a:extLst>
                    <a:ext uri="{9D8B030D-6E8A-4147-A177-3AD203B41FA5}">
                      <a16:colId xmlns:a16="http://schemas.microsoft.com/office/drawing/2014/main" val="3623923420"/>
                    </a:ext>
                  </a:extLst>
                </a:gridCol>
                <a:gridCol w="2181781">
                  <a:extLst>
                    <a:ext uri="{9D8B030D-6E8A-4147-A177-3AD203B41FA5}">
                      <a16:colId xmlns:a16="http://schemas.microsoft.com/office/drawing/2014/main" val="2441970844"/>
                    </a:ext>
                  </a:extLst>
                </a:gridCol>
              </a:tblGrid>
              <a:tr h="582023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Prerequisite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Course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ESTS Credit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Lecturer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718311"/>
                  </a:ext>
                </a:extLst>
              </a:tr>
              <a:tr h="595119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700" b="1" dirty="0">
                          <a:effectLst/>
                        </a:rPr>
                        <a:t>Applied Cryptography</a:t>
                      </a:r>
                      <a:endParaRPr lang="en-US" sz="1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6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>
                          <a:effectLst/>
                        </a:rPr>
                        <a:t>Koba Gelashvili</a:t>
                      </a:r>
                      <a:endParaRPr lang="en-US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4432401"/>
                  </a:ext>
                </a:extLst>
              </a:tr>
              <a:tr h="595119"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 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700" b="1" dirty="0">
                          <a:effectLst/>
                        </a:rPr>
                        <a:t>Database Security</a:t>
                      </a:r>
                      <a:endParaRPr lang="en-US" sz="1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dirty="0">
                          <a:effectLst/>
                        </a:rPr>
                        <a:t>6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500" dirty="0">
                          <a:effectLst/>
                        </a:rPr>
                        <a:t>Giga </a:t>
                      </a:r>
                      <a:r>
                        <a:rPr lang="en-US" sz="1500" dirty="0" err="1">
                          <a:effectLst/>
                        </a:rPr>
                        <a:t>Chalauri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9628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42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4279" y="255181"/>
            <a:ext cx="107495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 smtClean="0"/>
              <a:t>Possible Extension</a:t>
            </a:r>
            <a:endParaRPr lang="en-US" sz="50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440976"/>
              </p:ext>
            </p:extLst>
          </p:nvPr>
        </p:nvGraphicFramePr>
        <p:xfrm>
          <a:off x="999460" y="1867982"/>
          <a:ext cx="10334847" cy="2023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4847">
                  <a:extLst>
                    <a:ext uri="{9D8B030D-6E8A-4147-A177-3AD203B41FA5}">
                      <a16:colId xmlns:a16="http://schemas.microsoft.com/office/drawing/2014/main" val="2193307138"/>
                    </a:ext>
                  </a:extLst>
                </a:gridCol>
              </a:tblGrid>
              <a:tr h="645057">
                <a:tc>
                  <a:txBody>
                    <a:bodyPr/>
                    <a:lstStyle/>
                    <a:p>
                      <a:r>
                        <a:rPr lang="en-US" dirty="0" smtClean="0"/>
                        <a:t>Course 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932580"/>
                  </a:ext>
                </a:extLst>
              </a:tr>
              <a:tr h="689239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Smartphone Forensics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92411"/>
                  </a:ext>
                </a:extLst>
              </a:tr>
              <a:tr h="689239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Malware Reverse</a:t>
                      </a:r>
                      <a:r>
                        <a:rPr lang="en-US" sz="2000" b="1" baseline="0" dirty="0" smtClean="0"/>
                        <a:t> Engineering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321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746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4279" y="255181"/>
            <a:ext cx="107495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 smtClean="0"/>
              <a:t>Related Programs in SANGU</a:t>
            </a:r>
            <a:endParaRPr lang="en-US" sz="50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64176"/>
              </p:ext>
            </p:extLst>
          </p:nvPr>
        </p:nvGraphicFramePr>
        <p:xfrm>
          <a:off x="999460" y="1867978"/>
          <a:ext cx="9973340" cy="2746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727">
                  <a:extLst>
                    <a:ext uri="{9D8B030D-6E8A-4147-A177-3AD203B41FA5}">
                      <a16:colId xmlns:a16="http://schemas.microsoft.com/office/drawing/2014/main" val="2495181667"/>
                    </a:ext>
                  </a:extLst>
                </a:gridCol>
                <a:gridCol w="3386143">
                  <a:extLst>
                    <a:ext uri="{9D8B030D-6E8A-4147-A177-3AD203B41FA5}">
                      <a16:colId xmlns:a16="http://schemas.microsoft.com/office/drawing/2014/main" val="2193307138"/>
                    </a:ext>
                  </a:extLst>
                </a:gridCol>
                <a:gridCol w="4529470">
                  <a:extLst>
                    <a:ext uri="{9D8B030D-6E8A-4147-A177-3AD203B41FA5}">
                      <a16:colId xmlns:a16="http://schemas.microsoft.com/office/drawing/2014/main" val="1914854348"/>
                    </a:ext>
                  </a:extLst>
                </a:gridCol>
              </a:tblGrid>
              <a:tr h="765334"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Program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Program Director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932580"/>
                  </a:ext>
                </a:extLst>
              </a:tr>
              <a:tr h="765334">
                <a:tc>
                  <a:txBody>
                    <a:bodyPr/>
                    <a:lstStyle/>
                    <a:p>
                      <a:r>
                        <a:rPr lang="en-US" dirty="0" smtClean="0"/>
                        <a:t>Undergraduate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Computer Science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Koba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Gelashvili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92411"/>
                  </a:ext>
                </a:extLst>
              </a:tr>
              <a:tr h="1215883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Graduate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smtClean="0"/>
                        <a:t>Computer Science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Koba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Gelashvili</a:t>
                      </a:r>
                      <a:endParaRPr lang="en-US" dirty="0" smtClean="0"/>
                    </a:p>
                    <a:p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Paata Gogishvili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321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06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4279" y="255181"/>
            <a:ext cx="107495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 smtClean="0"/>
              <a:t>Main Traits of Undergraduate Program</a:t>
            </a:r>
          </a:p>
          <a:p>
            <a:pPr algn="ctr"/>
            <a:r>
              <a:rPr lang="en-US" sz="5000" b="1" dirty="0" smtClean="0"/>
              <a:t>Computer Science</a:t>
            </a:r>
            <a:endParaRPr lang="en-US" sz="5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12652" y="2381693"/>
            <a:ext cx="1217427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smtClean="0"/>
              <a:t>High compatibility with ACM curriculum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smtClean="0"/>
              <a:t>One of the best programs in Georgia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smtClean="0"/>
              <a:t>Mandatory B2 Level English Courses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smtClean="0"/>
              <a:t>Some elective courses in English (Computer Networks and Security, Frond-End </a:t>
            </a:r>
            <a:r>
              <a:rPr lang="en-US" sz="2500" dirty="0" err="1" smtClean="0"/>
              <a:t>ReactJS</a:t>
            </a:r>
            <a:r>
              <a:rPr lang="en-US" sz="2500" dirty="0" smtClean="0"/>
              <a:t>)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655896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4279" y="255181"/>
            <a:ext cx="107495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 smtClean="0"/>
              <a:t>Main Traits of Graduate Program</a:t>
            </a:r>
          </a:p>
          <a:p>
            <a:pPr algn="ctr"/>
            <a:r>
              <a:rPr lang="en-US" sz="5000" b="1" dirty="0" smtClean="0"/>
              <a:t>Computer Science</a:t>
            </a:r>
            <a:endParaRPr lang="en-US" sz="5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12652" y="2381693"/>
            <a:ext cx="1217427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smtClean="0"/>
              <a:t>One of the best programs in Georgia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smtClean="0"/>
              <a:t>Core courses including – Cybersecurity in Web Applications, Machine Learning, Cloud technologies and Engineering, Visualizations and Necessary Mathematics.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 smtClean="0"/>
              <a:t>Some elective courses in English (Computer Networks and Security, Frond-End </a:t>
            </a:r>
            <a:r>
              <a:rPr lang="en-US" sz="2500" dirty="0" err="1" smtClean="0"/>
              <a:t>ReactJS</a:t>
            </a:r>
            <a:r>
              <a:rPr lang="en-US" sz="2500" dirty="0" smtClean="0"/>
              <a:t>)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523534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314</Words>
  <Application>Microsoft Office PowerPoint</Application>
  <PresentationFormat>Widescreen</PresentationFormat>
  <Paragraphs>161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Cybersecurity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</dc:title>
  <dc:creator>პაატა გოგიშვილი</dc:creator>
  <cp:lastModifiedBy>პაატა გოგიშვილი</cp:lastModifiedBy>
  <cp:revision>24</cp:revision>
  <dcterms:created xsi:type="dcterms:W3CDTF">2022-05-19T17:36:30Z</dcterms:created>
  <dcterms:modified xsi:type="dcterms:W3CDTF">2022-05-19T18:33:40Z</dcterms:modified>
</cp:coreProperties>
</file>